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HACKATHON 2026 INNOVATION PITCH</a:t>
            </a:r>
          </a:p>
          <a:p>
            <a:pPr>
              <a:defRPr sz="5600" b="1">
                <a:solidFill>
                  <a:srgbClr val="FFFFFF"/>
                </a:solidFill>
              </a:defRPr>
            </a:pPr>
            <a:r>
              <a:t>SANJEEVANI</a:t>
            </a:r>
          </a:p>
          <a:p>
            <a:pPr>
              <a:defRPr sz="2800" b="1">
                <a:solidFill>
                  <a:srgbClr val="BBF7D0"/>
                </a:solidFill>
              </a:defRPr>
            </a:pPr>
            <a:r>
              <a:t>Direct Market &amp; Crop Care Platform</a:t>
            </a:r>
          </a:p>
          <a:p>
            <a:br/>
            <a:pPr>
              <a:defRPr sz="1600" i="1">
                <a:solidFill>
                  <a:srgbClr val="E2E8F0"/>
                </a:solidFill>
              </a:defRPr>
            </a:pPr>
            <a:r>
              <a:t>"From Field Diagnostics to Market — Your Complete Smart Farming &amp; Guaranteed Trade Saathi"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Presented by: Abdul Razak  |  Team: AI - Vengers</a:t>
            </a:r>
          </a:p>
          <a:p>
            <a:pPr>
              <a:defRPr sz="1200">
                <a:solidFill>
                  <a:srgbClr val="D97706"/>
                </a:solidFill>
              </a:defRPr>
            </a:pPr>
            <a:r>
              <a:t>Live App: sanjeevani-direct-market-and-crop-c.vercel.app  |  GitHub: Abdulrazak27/sanjeevani-direct-market-and-crop-care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THE PROBLEM</a:t>
            </a:r>
          </a:p>
          <a:p>
            <a:pPr>
              <a:defRPr sz="2600" b="1">
                <a:solidFill>
                  <a:srgbClr val="1B4D3E"/>
                </a:solidFill>
              </a:defRPr>
            </a:pPr>
            <a:r>
              <a:t>The Real-World Crisis in Indian Smallholder Agriculture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91C1C"/>
                </a:solidFill>
              </a:defRPr>
            </a:pPr>
            <a:r>
              <a:t>🚨 35% Yield Loss to Crop Diseases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Smallholder farmers lack timely agronomist access. Unidentified leaf diseases destroy entire harvests before diagnosis.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745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91C1C"/>
                </a:solidFill>
              </a:defRPr>
            </a:pPr>
            <a:r>
              <a:t>🚨 Predatory Middlemen Cartels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Farmers receive only 15-25% of final consumer price due to multi-tier exploitative middlemen commissions in mandis.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91C1C"/>
                </a:solidFill>
              </a:defRPr>
            </a:pPr>
            <a:r>
              <a:t>🚨 Zero Contract Enforcement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Buyers default or cancel orders after harvest when market prices dip, leaving farmers stranded with perishable debt.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2519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91C1C"/>
                </a:solidFill>
              </a:defRPr>
            </a:pPr>
            <a:r>
              <a:t>🚨 Cold Storage Inaccessibility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Zero visibility into nearby cold room capacity, extortionate entry fees, and broken post-harvest logistics cause 40% wastage.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OUR SOLUTION</a:t>
            </a:r>
          </a:p>
          <a:p>
            <a:pPr>
              <a:defRPr sz="2600" b="1">
                <a:solidFill>
                  <a:srgbClr val="1B4D3E"/>
                </a:solidFill>
              </a:defRPr>
            </a:pPr>
            <a:r>
              <a:t>Sanjeevani: The End-to-End AgriTech Ecosystem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D3E"/>
                </a:solidFill>
              </a:defRPr>
            </a:pPr>
            <a:r>
              <a:t>🔬 AI Crop Diagnostics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Mobile camera leaf pathology scanning with real-time blur detection, disease classification &amp; regional TTS voice prescription.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D3E"/>
                </a:solidFill>
              </a:defRPr>
            </a:pPr>
            <a:r>
              <a:t>💰 20% Advance Trade Rule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Industry-first mandatory 20% contract advance payment calculation &amp; escrow tracking. Eliminates buyer default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D3E"/>
                </a:solidFill>
              </a:defRPr>
            </a:pPr>
            <a:r>
              <a:t>❄️ Cold Storage &amp; Logistics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Interactive Leaflet map showing certified facilities, capacity in MT, transparent rates, and farm gate transport bookings.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D3E"/>
                </a:solidFill>
              </a:defRPr>
            </a:pPr>
            <a:r>
              <a:t>🌦️ Hyperlocal Farm Hub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Open-Meteo live weather forecasts, extreme climate alerts, daily farm plan routine ('My Day'), and worker availability matrix.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CORE INNOVATION #1</a:t>
            </a:r>
          </a:p>
          <a:p>
            <a:pPr>
              <a:defRPr sz="2600" b="1">
                <a:solidFill>
                  <a:srgbClr val="1B4D3E"/>
                </a:solidFill>
              </a:defRPr>
            </a:pPr>
            <a:r>
              <a:t>AI Vision Plant Pathology &amp; Regional Voice Guidance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4D3E"/>
                </a:solidFill>
              </a:defRPr>
            </a:pPr>
            <a:r>
              <a:t>🔬 How the AI Diagnostic Works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1. Live Camera Framing: getUserMedia viewfinder with leaf reticle &amp; torch flash.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2. Blur &amp; Light Pre-Check: Rejects blurry photos (&lt;35 Laplacian variance) to guarantee high confidence.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3. Disease Identification: Infers conditions like Early Blight, Powdery Mildew, Leaf Curl with 90%+ match score.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4. Severity Meter: Classifies leaf condition into Healthy, Mild, Moderate, or Severe.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5. Voice Read-Aloud: Instant multi-lingual Text-To-Speech (Telugu, Hindi, English) for illiterate farmers.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🌱 Real Diagnosis Example</a:t>
            </a:r>
          </a:p>
          <a:p>
            <a:br/>
            <a:pPr>
              <a:defRPr sz="1400" b="1">
                <a:solidFill>
                  <a:srgbClr val="B91C1C"/>
                </a:solidFill>
              </a:defRPr>
            </a:pPr>
            <a:r>
              <a:t>Crop: Tomato  |  Severity: Severe (94% AI Match)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Condition: Early Blight (Alternaria solani)</a:t>
            </a:r>
            <a:br/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Curative Action Plan:</a:t>
            </a:r>
            <a:br/>
            <a:r>
              <a:t>1. Prune affected bottom leaves &amp; isolate debris</a:t>
            </a:r>
            <a:br/>
            <a:r>
              <a:t>2. Apply bio-fungicide (Trichoderma viride @ 5g/L) or Neem oil 3000 PPM</a:t>
            </a:r>
            <a:br/>
            <a:r>
              <a:t>3. Reduce overhead irrigation; apply drip soil drenching</a:t>
            </a:r>
            <a:br/>
            <a:br/>
            <a:r>
              <a:t>🔊 Audio narration reads advice aloud in Telugu / Hindi / English!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CORE INNOVATION #2</a:t>
            </a:r>
          </a:p>
          <a:p>
            <a:pPr>
              <a:defRPr sz="2600" b="1">
                <a:solidFill>
                  <a:srgbClr val="1B4D3E"/>
                </a:solidFill>
              </a:defRPr>
            </a:pPr>
            <a:r>
              <a:t>Mandatory 20% Advance Payment System: Ending Buyer Default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8288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92400E"/>
                </a:solidFill>
              </a:defRPr>
            </a:pPr>
            <a:r>
              <a:t>⚖️ The 20% Advance Payment Formula &amp; Rule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Required Advance = Total Contract Amount × 20%   |   Remaining Amount = Total Amount − Amount Paid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No contract is executed until the buyer deposits the 20% advance. The farmer is guaranteed a non-refundable financial commitment before harvesting begins.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3474720" cy="24688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19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Scenario A: Full 20% Paid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Total Contract: ₹1,00,000</a:t>
            </a:r>
            <a:br/>
            <a:r>
              <a:t>Required Advance: ₹20,000</a:t>
            </a:r>
            <a:br/>
            <a:r>
              <a:t>Amount Paid: ₹20,000</a:t>
            </a:r>
            <a:br/>
            <a:r>
              <a:t>Remaining: ₹80,000</a:t>
            </a:r>
            <a:br/>
            <a:r>
              <a:t>Status: ✅ PAID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749039"/>
            <a:ext cx="3474720" cy="24688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3931919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Scenario B: Partial Advance Paid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Total Contract: ₹1,00,000</a:t>
            </a:r>
            <a:br/>
            <a:r>
              <a:t>Required Advance: ₹20,000</a:t>
            </a:r>
            <a:br/>
            <a:r>
              <a:t>Amount Paid: ₹10,000</a:t>
            </a:r>
            <a:br/>
            <a:r>
              <a:t>Remaining Advance: ₹10,000</a:t>
            </a:r>
            <a:br/>
            <a:r>
              <a:t>Status: ⚠️ PARTIALLY PAID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3749039"/>
            <a:ext cx="3474720" cy="24688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3931919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Scenario C: Cold Storage Booking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Total Storage Cost: ₹10,000</a:t>
            </a:r>
            <a:br/>
            <a:r>
              <a:t>20% Booking Advance: ₹2,000</a:t>
            </a:r>
            <a:br/>
            <a:r>
              <a:t>Remaining at Dispatch: ₹8,000</a:t>
            </a:r>
            <a:br/>
            <a:r>
              <a:t>Status: 🔒 SPACE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POST-HARVEST RESILIENCE</a:t>
            </a:r>
          </a:p>
          <a:p>
            <a:pPr>
              <a:defRPr sz="2600" b="1">
                <a:solidFill>
                  <a:srgbClr val="1B4D3E"/>
                </a:solidFill>
              </a:defRPr>
            </a:pPr>
            <a:r>
              <a:t>Cold Storage Infrastructure &amp; Transport Logistics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D3E"/>
                </a:solidFill>
              </a:defRPr>
            </a:pPr>
            <a:r>
              <a:t>🗺️ Interactive Leaflet Map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Real-world geo-coordinates mapping certified cold storage facilities in Guntur, Tenali, and Vijayawada. Visual distance calculation from farmer's village.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74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D3E"/>
                </a:solidFill>
              </a:defRPr>
            </a:pPr>
            <a:r>
              <a:t>📊 Live Capacity Tracking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Transparent dashboard showing Total Capacity vs Available Space (e.g. 500 MT available / 2,500 MT capacity) with temperature specifications.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60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D3E"/>
                </a:solidFill>
              </a:defRPr>
            </a:pPr>
            <a:r>
              <a:t>💳 20% Advance Space Reservation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Integrated instant booking calculating 20% deposit to lock in cold storage slots during post-harvest price depressions.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D3E"/>
                </a:solidFill>
              </a:defRPr>
            </a:pPr>
            <a:r>
              <a:t>🚚 Rural Transport Coordination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On-demand farm transport booking (Bolero 2 Ton / Eicher 5 Ton) connecting farm gates directly to designated cold rooms and mandis.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GOVERNANCE &amp; TRUST</a:t>
            </a:r>
          </a:p>
          <a:p>
            <a:pPr>
              <a:defRPr sz="2600" b="1">
                <a:solidFill>
                  <a:srgbClr val="1B4D3E"/>
                </a:solidFill>
              </a:defRPr>
            </a:pPr>
            <a:r>
              <a:t>Master Admin Ecosystem &amp; Enterprise Audit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</a:defRPr>
            </a:pPr>
            <a:r>
              <a:t>🗑️ Crop AI Scan Deletion &amp; Audit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Admins can permanently remove outdated or erroneous scans with safety confirmation modals, instant UI reactivity, and immutable audit logs.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74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</a:defRPr>
            </a:pPr>
            <a:r>
              <a:t>📡 Real-Time Web CMS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Live broadcast ticker updates (e.g. Monsoon alerts, 0% commission announcements) and helpline numbers without touching codebase.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60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</a:defRPr>
            </a:pPr>
            <a:r>
              <a:t>📑 KYC &amp; Contract Governance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Verification pipeline for farmer Aadhaar/Pattadar passbooks, buyer FSSAI/APMC trading licenses, and dispute settlement.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</a:defRPr>
            </a:pPr>
            <a:r>
              <a:t>🔄 Bi-directional Data Sync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Unified single-source-of-truth state across farmer applications and standalone admin console via reactive cross-tab events.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SYSTEM ARCHITECTURE</a:t>
            </a:r>
          </a:p>
          <a:p>
            <a:pPr>
              <a:defRPr sz="2600" b="1">
                <a:solidFill>
                  <a:srgbClr val="1B4D3E"/>
                </a:solidFill>
              </a:defRPr>
            </a:pPr>
            <a:r>
              <a:t>Modern, Reactive &amp; Scalable Technical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4D3E"/>
                </a:solidFill>
              </a:defRPr>
            </a:pPr>
            <a:r>
              <a:t>Frontend Client (Vercel Edge)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React 19 + TypeScript + Vite</a:t>
            </a:r>
            <a:br/>
            <a:r>
              <a:t>Tailwind CSS v4 Modern Styling</a:t>
            </a:r>
            <a:br/>
            <a:r>
              <a:t>Framer Motion Micro-Interactions</a:t>
            </a:r>
            <a:br/>
            <a:r>
              <a:t>Leaflet &amp; React-Leaflet Mapping</a:t>
            </a:r>
            <a:br/>
            <a:r>
              <a:t>i18next Regional Multi-Lingual</a:t>
            </a:r>
            <a:br/>
            <a:r>
              <a:t>PWA &amp; Web Speech Audio TTS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4D3E"/>
                </a:solidFill>
              </a:defRPr>
            </a:pPr>
            <a:r>
              <a:t>Data &amp; Offline Layer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Reactive Single Source of Truth</a:t>
            </a:r>
            <a:br/>
            <a:r>
              <a:t>BroadcastChannel Event Bus</a:t>
            </a:r>
            <a:br/>
            <a:r>
              <a:t>IndexedDB (`idb`) Offline Cache</a:t>
            </a:r>
            <a:br/>
            <a:r>
              <a:t>LocalStorage Multi-Tab Sync</a:t>
            </a:r>
            <a:br/>
            <a:r>
              <a:t>Immutable Audit Trail 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4D3E"/>
                </a:solidFill>
              </a:defRPr>
            </a:pPr>
            <a:r>
              <a:t>Backend &amp; External APIs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Node.js + Express REST API</a:t>
            </a:r>
            <a:br/>
            <a:r>
              <a:t>Python FastAPI Microservice</a:t>
            </a:r>
            <a:br/>
            <a:r>
              <a:t>Open-Meteo Weather Service</a:t>
            </a:r>
            <a:br/>
            <a:r>
              <a:t>OpenStreetMap Geo Tiles</a:t>
            </a:r>
            <a:br/>
            <a:r>
              <a:t>Disk Persistence (`sanjeevani_db.json`)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9202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4D3E"/>
                </a:solidFill>
              </a:defRPr>
            </a:pPr>
            <a:r>
              <a:t>Deployment &amp; DevOps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Vercel Global Edge Network</a:t>
            </a:r>
            <a:br/>
            <a:r>
              <a:t>GitHub Automated CI/CD</a:t>
            </a:r>
            <a:br/>
            <a:r>
              <a:t>Zero-Downtime Rollouts</a:t>
            </a:r>
            <a:br/>
            <a:r>
              <a:t>Pre-Rendered Static Assets</a:t>
            </a:r>
            <a:br/>
            <a:r>
              <a:t>Sub-second Response Times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COMPETITIVE ADVANTAGE</a:t>
            </a:r>
          </a:p>
          <a:p>
            <a:pPr>
              <a:defRPr sz="2600" b="1">
                <a:solidFill>
                  <a:srgbClr val="1B4D3E"/>
                </a:solidFill>
              </a:defRPr>
            </a:pPr>
            <a:r>
              <a:t>Why Sanjeevani Wins: Competitive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920240"/>
                <a:gridCol w="1920240"/>
                <a:gridCol w="1920240"/>
                <a:gridCol w="192024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Feature Capability</a:t>
                      </a:r>
                    </a:p>
                  </a:txBody>
                  <a:tcPr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Sanjeevani</a:t>
                      </a:r>
                    </a:p>
                  </a:txBody>
                  <a:tcPr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Plantix</a:t>
                      </a:r>
                    </a:p>
                  </a:txBody>
                  <a:tcPr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DeHaat</a:t>
                      </a:r>
                    </a:p>
                  </a:txBody>
                  <a:tcPr>
                    <a:solidFill>
                      <a:srgbClr val="1B4D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Traditional Mandis</a:t>
                      </a:r>
                    </a:p>
                  </a:txBody>
                  <a:tcPr>
                    <a:solidFill>
                      <a:srgbClr val="1B4D3E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AI Leaf Disease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✅ Real-time + Blur Check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✅ Yes (Basic)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Direct Procurement Contracts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✅ Verified Buyers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⚠️ Restricted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⚠️ Heavy Middlemen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20% Mandatory Advance Guarantee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✅ Yes (Automated Escrow)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❌ No (Credit Debt)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Cold Storage + 20% Booking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✅ Live Map + Booking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⚠️ Offline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❌ Zero Transparency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BUSINESS &amp; IMPACT</a:t>
            </a:r>
          </a:p>
          <a:p>
            <a:pPr>
              <a:defRPr sz="2600" b="1">
                <a:solidFill>
                  <a:srgbClr val="1B4D3E"/>
                </a:solidFill>
              </a:defRPr>
            </a:pPr>
            <a:r>
              <a:t>Business Sustainability &amp; Grassroots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4D3E"/>
                </a:solidFill>
              </a:defRPr>
            </a:pPr>
            <a:r>
              <a:t>💼 Scalable Revenue Model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1.5% Buyer Escrow Fee: Charged to institutional corporate buyers upon successful contract settlement (0% cost to farmers).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Cold Storage SaaS Listing: Annual subscription for cold storage operators and warehouse inventory management software.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Rural Logistics Commission: Small 5% commission on verified transport bookings (Bolero/Eicher).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Enterprise Agronomy API: Aggregated anonymized crop pathology disease heatmaps licensed to pesticide &amp; insurance providers.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📈 Tangible Social Impact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+32% Farmer Income: Direct trade eliminates commission agents, passing fair market value to producers.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40% Post-Harvest Loss Reduction: Immediate cold storage access prevents distress fire-sales of perishables.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Zero Payment Default: Mandatory 20% advance legally binds buyers and guarantees harvest capital.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Digital Inclusion: Voice audio in Telugu &amp; Hindi brings illiterate smallholders into the formal economy.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SANJEEVANI — DIRECT MARKET &amp; CROP CARE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Thank You! Experience the Live App Now</a:t>
            </a:r>
          </a:p>
          <a:p>
            <a:br/>
            <a:pPr>
              <a:defRPr sz="1800" b="1">
                <a:solidFill>
                  <a:srgbClr val="BBF7D0"/>
                </a:solidFill>
              </a:defRPr>
            </a:pPr>
            <a:r>
              <a:t>Live Production URL: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https://sanjeevani-direct-market-and-crop-c.vercel.app</a:t>
            </a:r>
          </a:p>
          <a:p>
            <a:br/>
            <a:pPr>
              <a:defRPr sz="1400" b="1">
                <a:solidFill>
                  <a:srgbClr val="D97706"/>
                </a:solidFill>
              </a:defRPr>
            </a:pPr>
            <a:r>
              <a:t>Admin Credentials for Judges:  admin@sanjeevani.com  /  SANJEEVANI_ADMIN_2026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Open Source GitHub:  github.com/Abdulrazak27/sanjeevani-direct-market-and-crop-care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